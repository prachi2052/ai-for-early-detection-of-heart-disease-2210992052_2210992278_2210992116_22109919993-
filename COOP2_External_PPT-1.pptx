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70" r:id="rId7"/>
    <p:sldId id="271" r:id="rId8"/>
    <p:sldId id="272" r:id="rId9"/>
    <p:sldId id="273" r:id="rId10"/>
    <p:sldId id="276" r:id="rId11"/>
    <p:sldId id="274" r:id="rId12"/>
    <p:sldId id="275" r:id="rId13"/>
    <p:sldId id="277" r:id="rId14"/>
    <p:sldId id="278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5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462-025-11479-1" TargetMode="External"/><Relationship Id="rId7" Type="http://schemas.openxmlformats.org/officeDocument/2006/relationships/hyperlink" Target="https://jeeemi.org/index.php/jeeemi/article/view/498" TargetMode="External"/><Relationship Id="rId2" Type="http://schemas.openxmlformats.org/officeDocument/2006/relationships/hyperlink" Target="https://pmc.ncbi.nlm.nih.gov/articles/PMC12484791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jisae.org/index.php/IJISAE/article/view/4862" TargetMode="External"/><Relationship Id="rId5" Type="http://schemas.openxmlformats.org/officeDocument/2006/relationships/hyperlink" Target="https://www.sciencedirect.com/science/article/abs/pii/S1350453324000134" TargetMode="External"/><Relationship Id="rId4" Type="http://schemas.openxmlformats.org/officeDocument/2006/relationships/hyperlink" Target="https://www.nature.com/articles/s41586-025-09227-0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800" dirty="0"/>
              <a:t>AI for early detection of heart disease using ECG and Imaging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Prachi  (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2210992052)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Sehdev Pratap (2210992278)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Raghav (2210992116)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Nishtha (2210991993)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 Gifty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36025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 flipV="1">
            <a:off x="436025" y="3112297"/>
            <a:ext cx="7860147" cy="404173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34DD1-5357-C519-C5F5-93C3EB605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84" y="662654"/>
            <a:ext cx="8131627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are one of the leading causes of death worldwide.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and accurate diagnosis is essential to reduce mortality.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ECG analysis depends on expert interpretation.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time-consuming and prone to human error.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especially deep learning, enables automated ECG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ResNet50-based model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multi-class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faster, more reliable, and cost-effective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doctors in better clinical decision-making.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DD6B-EFC9-E6D8-DBFB-B73A6C47B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11686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PROBLEM STATEMENT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531BB-484A-229C-2E00-EA2D0B68E3D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2143" y="413657"/>
            <a:ext cx="8599713" cy="603068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heart diseases using ECG is critical but remains challenging due to reliance on manual interpretation, which is time-consuming, error-prone, and difficult to scale for large patient populations.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accurate, and efficient system that can analyze ECG images and classify multiple cardiac conditions to assist doctors in faster and more reliable diagnosis. 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5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41E713-C854-705E-2C3F-A9708BA2C542}"/>
              </a:ext>
            </a:extLst>
          </p:cNvPr>
          <p:cNvSpPr txBox="1"/>
          <p:nvPr/>
        </p:nvSpPr>
        <p:spPr>
          <a:xfrm>
            <a:off x="1062332" y="109711"/>
            <a:ext cx="4942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0803C6-9D54-CA47-DED0-CCB9DBF48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56" y="582067"/>
            <a:ext cx="847023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system for early detection of heart diseases using ECG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deep learning model (ResNet50) for multi-class classification of cardiac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and efficiency compared to traditional manual ECG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handle imbalanced and limited medical datasets using transfer learning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 using metrics like accuracy, precision, recall, and ROC curve.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reliable decision-support tool for clinicians for faster diagnosis. </a:t>
            </a:r>
          </a:p>
        </p:txBody>
      </p:sp>
    </p:spTree>
    <p:extLst>
      <p:ext uri="{BB962C8B-B14F-4D97-AF65-F5344CB8AC3E}">
        <p14:creationId xmlns:p14="http://schemas.microsoft.com/office/powerpoint/2010/main" val="139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7D3A62-1A5B-EF79-C900-2EA448EB6927}"/>
              </a:ext>
            </a:extLst>
          </p:cNvPr>
          <p:cNvSpPr txBox="1"/>
          <p:nvPr/>
        </p:nvSpPr>
        <p:spPr>
          <a:xfrm>
            <a:off x="870857" y="119742"/>
            <a:ext cx="459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969AF-3784-FB0E-B9A6-1B3B7D93451F}"/>
              </a:ext>
            </a:extLst>
          </p:cNvPr>
          <p:cNvSpPr txBox="1"/>
          <p:nvPr/>
        </p:nvSpPr>
        <p:spPr>
          <a:xfrm>
            <a:off x="152400" y="1202872"/>
            <a:ext cx="89916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studies used machine learning models like Naïve Bayes, Random Forest, SVM, and Decision Trees for heart disease prediction, achieving moderate accuracy.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combining multiple algorithms improved performance, reaching accuracy levels around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88%–95%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approaches, especially CNN-based models, have shown superior performance with accuracies ranging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to 96%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techniques like transfer learning and domain adaptation further enhanced ECG classification accuracy and generalization.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research highlights challenges such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datasets, data quality, and real-world clinical integration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8762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FFBED7-E0CC-35FA-CFB6-599A6DAFE0BC}"/>
              </a:ext>
            </a:extLst>
          </p:cNvPr>
          <p:cNvSpPr txBox="1"/>
          <p:nvPr/>
        </p:nvSpPr>
        <p:spPr>
          <a:xfrm>
            <a:off x="1168400" y="94734"/>
            <a:ext cx="3124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95109E6-11DB-9C91-0210-C442D60ED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67" y="610136"/>
            <a:ext cx="878786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learning-based system using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ResNet50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ECG image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leveraging a pre-trained model to extract meaningful features from ECG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preprocessing techniques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resizing, normalization, and data augmentation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model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custom classification layer to categorize ECG images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five classes: AHB, COVID-19, HMI, MI, and Normal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and validate the model on a multi-class ECG dataset to achieve high accuracy and minimize overfitting.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using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confusion matrix, and ROC curve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fast, reliable, and automated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doctors in early heart disease detection. </a:t>
            </a:r>
          </a:p>
        </p:txBody>
      </p:sp>
    </p:spTree>
    <p:extLst>
      <p:ext uri="{BB962C8B-B14F-4D97-AF65-F5344CB8AC3E}">
        <p14:creationId xmlns:p14="http://schemas.microsoft.com/office/powerpoint/2010/main" val="3841118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0CAE7-3315-739F-43C2-97B83264D1D8}"/>
              </a:ext>
            </a:extLst>
          </p:cNvPr>
          <p:cNvSpPr txBox="1"/>
          <p:nvPr/>
        </p:nvSpPr>
        <p:spPr>
          <a:xfrm>
            <a:off x="1308100" y="196334"/>
            <a:ext cx="459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72E9F-F2CC-AF86-02AB-00BBDD8C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01700"/>
            <a:ext cx="4597400" cy="57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5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5603A-D996-DC11-8AC5-B60E28531AD5}"/>
              </a:ext>
            </a:extLst>
          </p:cNvPr>
          <p:cNvSpPr txBox="1"/>
          <p:nvPr/>
        </p:nvSpPr>
        <p:spPr>
          <a:xfrm>
            <a:off x="968829" y="163286"/>
            <a:ext cx="4996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CA7156-FF2D-5693-D535-40C399A5D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3477"/>
            <a:ext cx="8813800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is a publicly available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ECG image dataset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heart disease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 total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4568 ECG images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collected from multiple patients.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subsets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Training (70%), Testing (20%), and Validation (10%).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five classes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AHB (Atrioventricular Heart Block)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COVID-19 (cardiac-related cases)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HMI (History of Myocardial Infarction)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 (Myocardial Infarction)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imbalanced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classification more challenging and realistic.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images are in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.jpg format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resized to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224 × 224 pixels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preprocessing. </a:t>
            </a:r>
          </a:p>
        </p:txBody>
      </p:sp>
    </p:spTree>
    <p:extLst>
      <p:ext uri="{BB962C8B-B14F-4D97-AF65-F5344CB8AC3E}">
        <p14:creationId xmlns:p14="http://schemas.microsoft.com/office/powerpoint/2010/main" val="88845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BCE12-750D-75DC-FAF4-80AC3D276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935785"/>
            <a:ext cx="4305901" cy="2562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A052C8-F56A-28A3-4430-65EF63910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601" y="1076890"/>
            <a:ext cx="4296375" cy="237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EFB4D9-C44F-8F2A-9D8F-32476476F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665" y="3888771"/>
            <a:ext cx="2324424" cy="2257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7F120C-83CC-8609-B42D-861503B06E4D}"/>
              </a:ext>
            </a:extLst>
          </p:cNvPr>
          <p:cNvSpPr txBox="1"/>
          <p:nvPr/>
        </p:nvSpPr>
        <p:spPr>
          <a:xfrm>
            <a:off x="1083662" y="135820"/>
            <a:ext cx="8373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images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96F7A-F0F3-FCE4-C27C-AE5B2A547FDE}"/>
              </a:ext>
            </a:extLst>
          </p:cNvPr>
          <p:cNvSpPr txBox="1"/>
          <p:nvPr/>
        </p:nvSpPr>
        <p:spPr>
          <a:xfrm>
            <a:off x="984689" y="3307183"/>
            <a:ext cx="459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AHB                       COVID 19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5B632-DB89-CC99-E117-ECFFBC1AFCDF}"/>
              </a:ext>
            </a:extLst>
          </p:cNvPr>
          <p:cNvSpPr txBox="1"/>
          <p:nvPr/>
        </p:nvSpPr>
        <p:spPr>
          <a:xfrm>
            <a:off x="5270500" y="3307183"/>
            <a:ext cx="4851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HMI                                MI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92897-CAD8-D64F-4650-FF8FBA095B03}"/>
              </a:ext>
            </a:extLst>
          </p:cNvPr>
          <p:cNvSpPr txBox="1"/>
          <p:nvPr/>
        </p:nvSpPr>
        <p:spPr>
          <a:xfrm>
            <a:off x="3977502" y="6078691"/>
            <a:ext cx="2893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2149097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4F3F8-9B67-C1A3-5D81-4E5207A9F756}"/>
              </a:ext>
            </a:extLst>
          </p:cNvPr>
          <p:cNvSpPr txBox="1"/>
          <p:nvPr/>
        </p:nvSpPr>
        <p:spPr>
          <a:xfrm>
            <a:off x="1257300" y="234434"/>
            <a:ext cx="5118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25BC9-6BF4-5F70-2FE7-A99F356C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281"/>
            <a:ext cx="4789905" cy="4586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698142-DD85-2DD3-78A3-AD31EDBA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908" y="1638415"/>
            <a:ext cx="4318000" cy="412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6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B7DE12-29B8-CBFF-677B-0FBE0892B731}"/>
              </a:ext>
            </a:extLst>
          </p:cNvPr>
          <p:cNvSpPr txBox="1"/>
          <p:nvPr/>
        </p:nvSpPr>
        <p:spPr>
          <a:xfrm>
            <a:off x="1338944" y="169120"/>
            <a:ext cx="4593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010B0-4D4E-0705-FE19-3952D84A87C8}"/>
              </a:ext>
            </a:extLst>
          </p:cNvPr>
          <p:cNvSpPr txBox="1"/>
          <p:nvPr/>
        </p:nvSpPr>
        <p:spPr>
          <a:xfrm>
            <a:off x="108857" y="1121227"/>
            <a:ext cx="8926286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Hybrid Deep Learning Framework for Heart Disease Prediction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Deep Learning for ECG-Based Cardiovascular Disease Diagnosis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Detecting Structural Heart Disease Using Deep Learning (Nature)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Deep Learning Approach for Early Detection of Cardiovascular Diseases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Automated ECG Classification Using CNN (Research Paper)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Deep Learning Methods for ECG-Based Heart Disease Prediction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12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34784</TotalTime>
  <Words>712</Words>
  <Application>Microsoft Office PowerPoint</Application>
  <PresentationFormat>On-screen Show (4:3)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Sehdev Pratap</cp:lastModifiedBy>
  <cp:revision>2302</cp:revision>
  <dcterms:created xsi:type="dcterms:W3CDTF">2010-04-09T07:36:15Z</dcterms:created>
  <dcterms:modified xsi:type="dcterms:W3CDTF">2026-05-04T08:02:49Z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